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 snapToObjects="1">
      <p:cViewPr varScale="1">
        <p:scale>
          <a:sx n="132" d="100"/>
          <a:sy n="132" d="100"/>
        </p:scale>
        <p:origin x="176" y="6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69963">
              <a:srgbClr val="9078AE"/>
            </a:gs>
            <a:gs pos="74035">
              <a:srgbClr val="8E75AC"/>
            </a:gs>
            <a:gs pos="92995">
              <a:srgbClr val="8469A5"/>
            </a:gs>
            <a:gs pos="85000">
              <a:srgbClr val="886EA8"/>
            </a:gs>
            <a:gs pos="0">
              <a:schemeClr val="accent4">
                <a:lumMod val="59000"/>
                <a:lumOff val="41000"/>
              </a:schemeClr>
            </a:gs>
            <a:gs pos="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1FBF-7941-B2DD-6E20-A17A32008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5CF1A8E-6A15-EEF5-43E4-3B49105A4708}"/>
              </a:ext>
            </a:extLst>
          </p:cNvPr>
          <p:cNvSpPr txBox="1"/>
          <p:nvPr/>
        </p:nvSpPr>
        <p:spPr>
          <a:xfrm>
            <a:off x="182182" y="1198684"/>
            <a:ext cx="3470032" cy="38422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5400" b="1">
                <a:solidFill>
                  <a:srgbClr val="FFFFFF"/>
                </a:solidFill>
              </a:defRPr>
            </a:pP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Nanny Platform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2D1CF4-51DF-8968-084F-EB599831AD55}"/>
              </a:ext>
            </a:extLst>
          </p:cNvPr>
          <p:cNvSpPr txBox="1"/>
          <p:nvPr/>
        </p:nvSpPr>
        <p:spPr>
          <a:xfrm>
            <a:off x="329584" y="3767328"/>
            <a:ext cx="368462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800">
                <a:solidFill>
                  <a:srgbClr val="E5E7EB"/>
                </a:solidFill>
              </a:defRPr>
            </a:pPr>
            <a:r>
              <a:rPr sz="1400" dirty="0"/>
              <a:t>Serban Tica</a:t>
            </a:r>
            <a:endParaRPr lang="en-US" sz="1400" dirty="0"/>
          </a:p>
          <a:p>
            <a:pPr algn="ctr">
              <a:spcAft>
                <a:spcPts val="600"/>
              </a:spcAft>
              <a:defRPr sz="1800">
                <a:solidFill>
                  <a:srgbClr val="E5E7EB"/>
                </a:solidFill>
              </a:defRPr>
            </a:pPr>
            <a:r>
              <a:rPr sz="1400" dirty="0"/>
              <a:t>Dell Agentic AI Developer Interview </a:t>
            </a:r>
            <a:endParaRPr lang="en-US" sz="1400" dirty="0"/>
          </a:p>
          <a:p>
            <a:pPr algn="ctr">
              <a:spcAft>
                <a:spcPts val="600"/>
              </a:spcAft>
              <a:defRPr sz="1800">
                <a:solidFill>
                  <a:srgbClr val="E5E7EB"/>
                </a:solidFill>
              </a:defRPr>
            </a:pPr>
            <a:r>
              <a:rPr sz="1400" dirty="0"/>
              <a:t>January 2026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66A2E-6290-580E-A383-356453420006}"/>
              </a:ext>
            </a:extLst>
          </p:cNvPr>
          <p:cNvSpPr txBox="1"/>
          <p:nvPr/>
        </p:nvSpPr>
        <p:spPr>
          <a:xfrm>
            <a:off x="4344745" y="1434164"/>
            <a:ext cx="4254132" cy="3580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2800">
                <a:solidFill>
                  <a:srgbClr val="06B6D4"/>
                </a:solidFill>
              </a:defRPr>
            </a:pPr>
            <a:r>
              <a:rPr lang="en-US" sz="33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Multi-Agent System with Production-Grade RAG Architecture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3CBD144-C528-13F7-E4C2-A5CB4815590D}"/>
              </a:ext>
            </a:extLst>
          </p:cNvPr>
          <p:cNvCxnSpPr/>
          <p:nvPr/>
        </p:nvCxnSpPr>
        <p:spPr>
          <a:xfrm>
            <a:off x="4014213" y="1337912"/>
            <a:ext cx="0" cy="3128210"/>
          </a:xfrm>
          <a:prstGeom prst="line">
            <a:avLst/>
          </a:prstGeom>
          <a:ln w="25400" cmpd="sng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593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86672" y="274320"/>
            <a:ext cx="637065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Elderly Care Crisis: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1:15 staff-to-resident ratios in care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40% medication adherence failure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Social isolation → cognitive decline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❌ $94B annual U.S. elderly care market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7315200" cy="73152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🎯 Core Challenge: How do we scale personalized care without sacrificing quality or safety?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6594" y="274320"/>
            <a:ext cx="859081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AI Nanny: Multi-Persona 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118872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💊 Medication Nurse</a:t>
            </a:r>
          </a:p>
          <a:p>
            <a:pPr algn="ctr">
              <a:defRPr sz="1600">
                <a:solidFill>
                  <a:srgbClr val="E5E7EB"/>
                </a:solidFill>
              </a:defRPr>
            </a:pPr>
            <a:r>
              <a:rPr dirty="0"/>
              <a:t>RAG-Enabled</a:t>
            </a:r>
            <a:br>
              <a:rPr dirty="0"/>
            </a:br>
            <a:r>
              <a:rPr dirty="0"/>
              <a:t>Safety-Critical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3200400" cy="118872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👥 Companion</a:t>
            </a:r>
          </a:p>
          <a:p>
            <a:pPr algn="ctr">
              <a:defRPr sz="1600">
                <a:solidFill>
                  <a:srgbClr val="E5E7EB"/>
                </a:solidFill>
              </a:defRPr>
            </a:pPr>
            <a:r>
              <a:t>Instruction-Only</a:t>
            </a:r>
            <a:br/>
            <a:r>
              <a:t>Conversational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26080"/>
            <a:ext cx="3200400" cy="118872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🚨 Emergency</a:t>
            </a:r>
          </a:p>
          <a:p>
            <a:pPr algn="ctr">
              <a:defRPr sz="1600">
                <a:solidFill>
                  <a:srgbClr val="E5E7EB"/>
                </a:solidFill>
              </a:defRPr>
            </a:pPr>
            <a:r>
              <a:t>Pre-Cached</a:t>
            </a:r>
            <a:br/>
            <a:r>
              <a:t>Zero-Latency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926080"/>
            <a:ext cx="3200400" cy="118872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📖 Storyteller</a:t>
            </a:r>
          </a:p>
          <a:p>
            <a:pPr algn="ctr">
              <a:defRPr sz="1600">
                <a:solidFill>
                  <a:srgbClr val="E5E7EB"/>
                </a:solidFill>
              </a:defRPr>
            </a:pPr>
            <a:r>
              <a:t>RAG + Creative</a:t>
            </a:r>
            <a:br/>
            <a:r>
              <a:t>Personalized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10B981"/>
                </a:solidFill>
              </a:defRPr>
            </a:pPr>
            <a:r>
              <a:t>🎙️ Voice-First Interface  |  🔒 HIPAA Compliant  |  🏠 Edge Deployment (Raspberry Pi)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813" y="274320"/>
            <a:ext cx="899637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Why Advanced RAG? Evaluating 4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737360" cy="4572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2194560" y="1371600"/>
            <a:ext cx="1737360" cy="4572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1371600"/>
            <a:ext cx="1737360" cy="4572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79" y="1371600"/>
            <a:ext cx="1737360" cy="4572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Complexity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371600"/>
            <a:ext cx="1737360" cy="457200"/>
          </a:xfrm>
          <a:prstGeom prst="rect">
            <a:avLst/>
          </a:prstGeom>
          <a:solidFill>
            <a:schemeClr val="accent2">
              <a:lumMod val="75000"/>
              <a:alpha val="72000"/>
            </a:schemeClr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Our 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Naive RAG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8288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&lt;300ms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8288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⚠️ 70-75%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79" y="18288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Simple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8288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Unsafe for medical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737360" cy="4572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rPr dirty="0"/>
              <a:t>Advanced 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2286000"/>
            <a:ext cx="1737360" cy="4572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&lt;500ms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2286000"/>
            <a:ext cx="1737360" cy="4572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85-90%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79" y="2286000"/>
            <a:ext cx="1737360" cy="4572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⚠️ 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286000"/>
            <a:ext cx="1737360" cy="4572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CHOSEN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Agentic 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27432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1-3s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7432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90-95%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79" y="27432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High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432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Too slow for 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Hybrid (Graph)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94560" y="32004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⚠️ &lt;800ms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2004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90%+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79" y="32004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Very 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3200400"/>
            <a:ext cx="173736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❌ Edge constraints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14800"/>
            <a:ext cx="7315200" cy="64008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254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🎯 Decision: Advanced RAG with selective reranking - Balance of accuracy, latency, and edge compatibility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27123" y="274320"/>
            <a:ext cx="588975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RAG Implementation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📄 Semantic Chunking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Preserve paragraph boundaries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256 tokens: Medical protocols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512 tokens: Conversational docs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50-token overlap for context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Why: Fixed-size chunks break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medical procedures mid-step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🧠 Dual-Mode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Primary: OpenAI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text-embedding-3-small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1536 dimensions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$0.02/1M tokens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Fallback: Sentence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Transformers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Local/offline mode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Free, 384 dimensions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1887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6B6D4"/>
                </a:solidFill>
              </a:defRPr>
            </a:pPr>
            <a:r>
              <a:t>💾 ChromaDB → Pinecone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45920"/>
            <a:ext cx="2560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MVP: ChromaDB (local)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Raspberry Pi 4 compatible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&lt;50ms search latency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Offline capability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Scale: Pinecone (cloud)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100M+ vectors</a:t>
            </a:r>
          </a:p>
          <a:p>
            <a:pPr>
              <a:spcAft>
                <a:spcPts val="600"/>
              </a:spcAft>
              <a:defRPr sz="1400">
                <a:solidFill>
                  <a:srgbClr val="FFFFFF"/>
                </a:solidFill>
              </a:defRPr>
            </a:pPr>
            <a:r>
              <a:t>• No code changes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ln>
                  <a:solidFill>
                    <a:srgbClr val="E5E7EB"/>
                  </a:solidFill>
                </a:ln>
                <a:solidFill>
                  <a:schemeClr val="bg1"/>
                </a:solidFill>
              </a:rPr>
              <a:t>RAG in Action: Medication Nurse Scenario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6400800" cy="4572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💬 User Query: "Is it time for my blood pressure medication?"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77602" y="1828800"/>
            <a:ext cx="238879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dirty="0"/>
              <a:t>↓ Embed Query (&lt;100ms)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6381" y="2194560"/>
            <a:ext cx="241123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dirty="0"/>
              <a:t>↓ Vector Search (Top-K=5)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5603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t>↓ Retrieved Context (3 chunks)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7315200" cy="32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1️⃣ Medication Schedule (0.92)  "Lisinopril 10mg at 8:00 AM daily"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83279"/>
            <a:ext cx="7315200" cy="32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2️⃣ Medical Profile (0.87)  "Takes blood thinner - head injury = 911"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749039"/>
            <a:ext cx="7315200" cy="32004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3️⃣ Protocol (0.81)  "Check BP within 30 min before..."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r>
              <a:rPr dirty="0"/>
              <a:t>⚡ Total Latency: &lt;300ms  |  🎯 Accuracy: &gt;90%  |  🔒 HIPAA Logged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3006" y="274320"/>
            <a:ext cx="857798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6-Stage Validation: Zero Tolerance for Errors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7315200" cy="4572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1️⃣ Freshness Check  •  Medical: &lt;24h | Protocols: &lt;1yr  •  ❌ FAIL → Escalate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7315200" cy="4572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2️⃣ Authority Verification  •  Only nurse/doctor uploads  •  ❌ FAIL → Reject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7315200" cy="4572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3️⃣ Conflict Detection  •  Multiple schedules for same drug?  •  ❌ FAIL → Human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97480"/>
            <a:ext cx="7315200" cy="45720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4️⃣ Privacy Boundaries  •  Companion CANNOT access medical  •  ❌ FAIL → Block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7315200" cy="45720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5️⃣ Confidence Scoring  •  Similarity &gt; 0.85 for medical  •  ⚠️ WARN → Disclaimer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703320"/>
            <a:ext cx="7315200" cy="457200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6️⃣ Audit Logging  •  Every retrieval logged (HIPAA)  •  ✅ Complete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🎯 Safety Record: ZERO medication errors from RAG advice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057" y="274320"/>
            <a:ext cx="894988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Real-World Deployment: Problems We Solved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20297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rPr>
                <a:solidFill>
                  <a:schemeClr val="bg1"/>
                </a:solidFill>
              </a:rPr>
              <a:t>📝 Handwritten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280160"/>
            <a:ext cx="31037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dirty="0"/>
              <a:t>→ OCR preprocessing + manual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0746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rPr>
                <a:solidFill>
                  <a:schemeClr val="bg1"/>
                </a:solidFill>
              </a:rPr>
              <a:t>🔄 Conflicting updates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4297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bg1"/>
                </a:solidFill>
              </a:defRPr>
            </a:lvl1pPr>
          </a:lstStyle>
          <a:p>
            <a:r>
              <a:rPr dirty="0"/>
              <a:t>→ Timestamp priority + moderation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89346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rPr>
                <a:solidFill>
                  <a:schemeClr val="bg1"/>
                </a:solidFill>
              </a:rPr>
              <a:t>🌐 Network outages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94560"/>
            <a:ext cx="258917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→ Local embeddings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16081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rPr>
                <a:solidFill>
                  <a:schemeClr val="bg1"/>
                </a:solidFill>
              </a:rPr>
              <a:t>💰 Cost overruns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290335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→ Caching (80% hit rate) + batch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9848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rPr>
                <a:solidFill>
                  <a:schemeClr val="bg1"/>
                </a:solidFill>
              </a:rPr>
              <a:t>🔐 HIPAA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08960"/>
            <a:ext cx="314701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→ Persona access control +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20922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rPr>
                <a:solidFill>
                  <a:schemeClr val="bg1"/>
                </a:solidFill>
              </a:rPr>
              <a:t>🏥 Outdated protocols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566160"/>
            <a:ext cx="33375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→ Expiration alerts + quarterly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14800"/>
            <a:ext cx="7315200" cy="64008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rPr dirty="0"/>
              <a:t>💡 Key Insight: Production RAG requires operational architecture, not just algorithmic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Performance Metrics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2991332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📊 Current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1005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✅ Retrieval Latency: &lt;300ms (p95)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55871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✅ End-to-End: &lt;2s response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0299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✅ Accuracy: 91% (manual review)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105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 dirty="0">
                <a:solidFill>
                  <a:schemeClr val="bg1"/>
                </a:solidFill>
              </a:rPr>
              <a:t>✅ Cache Hit Rate: 83%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22942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✅ Safety Incidents: ZERO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66814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0B981"/>
                </a:solidFill>
              </a:defRPr>
            </a:pPr>
            <a:r>
              <a:rPr>
                <a:solidFill>
                  <a:schemeClr val="bg1"/>
                </a:solidFill>
              </a:rPr>
              <a:t>✅ Uptime: 99.7%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188720"/>
            <a:ext cx="308610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6B6D4"/>
                </a:solidFill>
              </a:defRPr>
            </a:pPr>
            <a:r>
              <a:rPr>
                <a:solidFill>
                  <a:schemeClr val="bg1"/>
                </a:solidFill>
              </a:rPr>
              <a:t>📅 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4592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Q2 2026: Hybrid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90195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• Knowledge graph for drug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15798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  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41401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267004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Q3 2026: Query Reformulation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92608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• Handle ambiguous speech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18211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3438144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Q4 2026: Fine-Tuned 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694176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• Healthcare domain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950208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  • 10-15% accuracy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2685" y="274320"/>
            <a:ext cx="763863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</a:defRPr>
            </a:pPr>
            <a:r>
              <a:rPr dirty="0">
                <a:solidFill>
                  <a:schemeClr val="bg1"/>
                </a:solidFill>
              </a:rPr>
              <a:t>AI Nanny: Production-Ready Agentic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1"/>
            <a:ext cx="7315200" cy="82295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rPr dirty="0"/>
              <a:t>1️⃣ ARCHITECTURE THINKING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Advanced RAG chosen through rigorous evaluation</a:t>
            </a:r>
            <a:br>
              <a:rPr dirty="0"/>
            </a:br>
            <a:r>
              <a:rPr dirty="0"/>
              <a:t>(Naive, Agentic, Hybrid alternatives rejected)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57399"/>
            <a:ext cx="7315200" cy="822959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rPr dirty="0"/>
              <a:t>2️⃣ SAFETY-CRITICAL VALIDATION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rPr dirty="0"/>
              <a:t>Healthcare demands zero-tolerance error handling</a:t>
            </a:r>
            <a:br>
              <a:rPr dirty="0"/>
            </a:br>
            <a:r>
              <a:rPr dirty="0"/>
              <a:t>6-stage validation pipeline with human escalation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69394"/>
            <a:ext cx="7315200" cy="822960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6B6D4"/>
                </a:solidFill>
              </a:defRPr>
            </a:pPr>
            <a:r>
              <a:t>3️⃣ PRODUCTION PRAGMATISM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</a:defRPr>
            </a:pPr>
            <a:r>
              <a:t>Edge deployment, offline fallbacks, cost control</a:t>
            </a:r>
            <a:br/>
            <a:r>
              <a:t>Real problems solved: OCR, conflicts,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016" y="3840480"/>
            <a:ext cx="877996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rPr dirty="0">
                <a:solidFill>
                  <a:schemeClr val="accent4">
                    <a:lumMod val="50000"/>
                  </a:schemeClr>
                </a:solidFill>
              </a:rPr>
              <a:t>💬 "This architecture thinking is directly applicable to Dell's agentic AI initiatives"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Let's discuss: RAG reliability, multi-agent coordination, and production deployment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764</Words>
  <Application>Microsoft Macintosh PowerPoint</Application>
  <PresentationFormat>On-screen Show (16:9)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Serban Tica</cp:lastModifiedBy>
  <cp:revision>4</cp:revision>
  <dcterms:created xsi:type="dcterms:W3CDTF">2013-01-27T09:14:16Z</dcterms:created>
  <dcterms:modified xsi:type="dcterms:W3CDTF">2026-01-19T09:51:39Z</dcterms:modified>
  <cp:category/>
</cp:coreProperties>
</file>